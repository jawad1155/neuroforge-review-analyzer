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10728655" cy="5029200"/>
          </a:xfrm>
          <a:prstGeom prst="rect">
            <a:avLst/>
          </a:prstGeom>
          <a:solidFill>
            <a:srgbClr val="0E1424"/>
          </a:solidFill>
          <a:ln w="19050">
            <a:solidFill>
              <a:srgbClr val="1C26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97280" y="1280160"/>
            <a:ext cx="3108960" cy="320040"/>
          </a:xfrm>
          <a:prstGeom prst="round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8FAFC"/>
                </a:solidFill>
              </a:defRPr>
            </a:pPr>
            <a:r>
              <a:t>AMD DEVELOPER HACKATHON: ACT III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280160"/>
            <a:ext cx="2834640" cy="320040"/>
          </a:xfrm>
          <a:prstGeom prst="round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8FAFC"/>
                </a:solidFill>
              </a:defRPr>
            </a:pPr>
            <a:r>
              <a:t>EVOLUS AI WORKSPACE PARTNER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06640" y="1280160"/>
            <a:ext cx="1645920" cy="320040"/>
          </a:xfrm>
          <a:prstGeom prst="roundRect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00F0FF"/>
                </a:solidFill>
              </a:defRPr>
            </a:pPr>
            <a:r>
              <a:t>LIVE ON VERCEL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920240"/>
            <a:ext cx="9601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000" b="1">
                <a:solidFill>
                  <a:srgbClr val="00F0FF"/>
                </a:solidFill>
              </a:defRPr>
            </a:pPr>
            <a:r>
              <a:t>NEUROFORGE</a:t>
            </a:r>
          </a:p>
          <a:p>
            <a:pPr>
              <a:spcBef>
                <a:spcPts val="800"/>
              </a:spcBef>
              <a:defRPr sz="2600" b="1">
                <a:solidFill>
                  <a:srgbClr val="F8FAFC"/>
                </a:solidFill>
              </a:defRPr>
            </a:pPr>
            <a:r>
              <a:t>AI-Powered Customer Review Intelligence Platform</a:t>
            </a:r>
          </a:p>
          <a:p>
            <a:pPr>
              <a:spcBef>
                <a:spcPts val="1400"/>
              </a:spcBef>
              <a:defRPr sz="1400">
                <a:solidFill>
                  <a:srgbClr val="94A3B8"/>
                </a:solidFill>
              </a:defRPr>
            </a:pPr>
            <a:r>
              <a:t>Transforming thousands of noisy, unstructured customer reviews into real-time sentiment distribution, root friction points, and autonomous executive clarity — powered by AMD ROCm &amp; Evolus AI.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4572000"/>
            <a:ext cx="9997135" cy="1005840"/>
          </a:xfrm>
          <a:prstGeom prst="roundRect">
            <a:avLst/>
          </a:prstGeom>
          <a:solidFill>
            <a:srgbClr val="182135"/>
          </a:solidFill>
          <a:ln w="15240">
            <a:solidFill>
              <a:srgbClr val="263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4709160"/>
            <a:ext cx="94183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Live Demo: https://neuroforge-review-analyzer.vercel.app/    |    GitHub: github.com/jawad1155/neuroforge-review-analyzer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Team: Jawad (jawad52852@gmail.com) &amp; Arham Sohail (arhamsohail2022@gmail.com)  •  Stack: AMD Developer Cloud (DeepSeek-V4-Flash) + Evolus AI Workspaces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ED1C24"/>
                </a:solidFill>
              </a:defRPr>
            </a:pPr>
            <a:r>
              <a:t>THE PROBLEM &amp; MARKET FRICTION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5156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The Qualitative Feedback Crisis in Modern Enterprises</a:t>
            </a:r>
          </a:p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</a:defRPr>
            </a:pPr>
            <a:r>
              <a:t>Businesses are drowning in raw customer reviews, but starving for actionable intelligence.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5257800" cy="2011680"/>
          </a:xfrm>
          <a:prstGeom prst="roundRect">
            <a:avLst/>
          </a:prstGeom>
          <a:solidFill>
            <a:srgbClr val="121929"/>
          </a:solidFill>
          <a:ln w="15240">
            <a:solidFill>
              <a:srgbClr val="263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05840" y="2194560"/>
            <a:ext cx="1463040" cy="274320"/>
          </a:xfrm>
          <a:prstGeom prst="roundRect">
            <a:avLst/>
          </a:prstGeom>
          <a:solidFill>
            <a:srgbClr val="1C2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ED1C24"/>
                </a:solidFill>
              </a:defRPr>
            </a:pPr>
            <a:r>
              <a:t>PAIN POINT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47091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8FAFC"/>
                </a:solidFill>
              </a:defRPr>
            </a:pPr>
            <a:r>
              <a:t>80% Unstructured Data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</a:defRPr>
            </a:pPr>
            <a:r>
              <a:t>Over 80% of actionable customer feedback sits locked in noisy text reviews across Amazon, Trustpilot, App Stores, and surveys with zero automated structure.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920240"/>
            <a:ext cx="5257800" cy="2011680"/>
          </a:xfrm>
          <a:prstGeom prst="roundRect">
            <a:avLst/>
          </a:prstGeom>
          <a:solidFill>
            <a:srgbClr val="121929"/>
          </a:solidFill>
          <a:ln w="15240">
            <a:solidFill>
              <a:srgbClr val="263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46520" y="2194560"/>
            <a:ext cx="1463040" cy="274320"/>
          </a:xfrm>
          <a:prstGeom prst="roundRect">
            <a:avLst/>
          </a:prstGeom>
          <a:solidFill>
            <a:srgbClr val="1C2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59E0B"/>
                </a:solidFill>
              </a:defRPr>
            </a:pPr>
            <a:r>
              <a:t>PAIN POINT 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606040"/>
            <a:ext cx="47091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8FAFC"/>
                </a:solidFill>
              </a:defRPr>
            </a:pPr>
            <a:r>
              <a:t>Manual Audit Bottlenecks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</a:defRPr>
            </a:pPr>
            <a:r>
              <a:t>Product and CX teams spend 15-20 hours every week manually reading spreadsheets, resulting in delayed sprint cycles and outdated feature priorities.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114800"/>
            <a:ext cx="5257800" cy="2011680"/>
          </a:xfrm>
          <a:prstGeom prst="roundRect">
            <a:avLst/>
          </a:prstGeom>
          <a:solidFill>
            <a:srgbClr val="121929"/>
          </a:solidFill>
          <a:ln w="15240">
            <a:solidFill>
              <a:srgbClr val="263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05840" y="4389120"/>
            <a:ext cx="1463040" cy="274320"/>
          </a:xfrm>
          <a:prstGeom prst="roundRect">
            <a:avLst/>
          </a:prstGeom>
          <a:solidFill>
            <a:srgbClr val="1C2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ED1C24"/>
                </a:solidFill>
              </a:defRPr>
            </a:pPr>
            <a:r>
              <a:t>PAIN POINT 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800600"/>
            <a:ext cx="47091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8FAFC"/>
                </a:solidFill>
              </a:defRPr>
            </a:pPr>
            <a:r>
              <a:t>The Silent Churn Trap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</a:defRPr>
            </a:pPr>
            <a:r>
              <a:t>High-severity bugs and product flaws remain buried under hundreds of 3-star and 4-star comments until users churn in silence without warning.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4114800"/>
            <a:ext cx="5257800" cy="2011680"/>
          </a:xfrm>
          <a:prstGeom prst="roundRect">
            <a:avLst/>
          </a:prstGeom>
          <a:solidFill>
            <a:srgbClr val="121929"/>
          </a:solidFill>
          <a:ln w="15240">
            <a:solidFill>
              <a:srgbClr val="263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46520" y="4389120"/>
            <a:ext cx="1463040" cy="274320"/>
          </a:xfrm>
          <a:prstGeom prst="roundRect">
            <a:avLst/>
          </a:prstGeom>
          <a:solidFill>
            <a:srgbClr val="1C2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38BDF8"/>
                </a:solidFill>
              </a:defRPr>
            </a:pPr>
            <a:r>
              <a:t>PAIN POINT 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4800600"/>
            <a:ext cx="47091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8FAFC"/>
                </a:solidFill>
              </a:defRPr>
            </a:pPr>
            <a:r>
              <a:t>Superficial Analytics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</a:defRPr>
            </a:pPr>
            <a:r>
              <a:t>Legacy tools only calculate basic star ratings (e.g. 4.1/5) which mask critical product defects and fail to explain WHY customers are unhappy.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F0FF"/>
                </a:solidFill>
              </a:defRPr>
            </a:pPr>
            <a: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5156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NeuroForge: Autonomous Review Intelligence</a:t>
            </a:r>
          </a:p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</a:defRPr>
            </a:pPr>
            <a:r>
              <a:t>Turning raw qualitative reviews into instant strategic decisions at hardware speed.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2560320" cy="4206240"/>
          </a:xfrm>
          <a:prstGeom prst="roundRect">
            <a:avLst/>
          </a:prstGeom>
          <a:solidFill>
            <a:srgbClr val="121929"/>
          </a:solidFill>
          <a:ln w="15240">
            <a:solidFill>
              <a:srgbClr val="263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0120" y="2194560"/>
            <a:ext cx="2103120" cy="292608"/>
          </a:xfrm>
          <a:prstGeom prst="roundRect">
            <a:avLst/>
          </a:prstGeom>
          <a:solidFill>
            <a:srgbClr val="1821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38BDF8"/>
                </a:solidFill>
              </a:defRPr>
            </a:pPr>
            <a:r>
              <a:t>INGESTION CORE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651760"/>
            <a:ext cx="21031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8FAFC"/>
                </a:solidFill>
              </a:defRPr>
            </a:pPr>
            <a:r>
              <a:t>Instant Ingestion &amp; Scraping</a:t>
            </a:r>
          </a:p>
          <a:p>
            <a:pPr>
              <a:spcBef>
                <a:spcPts val="1000"/>
              </a:spcBef>
              <a:defRPr sz="1200">
                <a:solidFill>
                  <a:srgbClr val="CBD5E1"/>
                </a:solidFill>
              </a:defRPr>
            </a:pPr>
            <a:r>
              <a:t>Seamless drag-and-drop CSV processing, automatic review column detection, and live URL review extraction with built-in sanitization.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920240"/>
            <a:ext cx="2560320" cy="4206240"/>
          </a:xfrm>
          <a:prstGeom prst="roundRect">
            <a:avLst/>
          </a:prstGeom>
          <a:solidFill>
            <a:srgbClr val="121929"/>
          </a:solidFill>
          <a:ln w="15240">
            <a:solidFill>
              <a:srgbClr val="263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657600" y="2194560"/>
            <a:ext cx="2103120" cy="292608"/>
          </a:xfrm>
          <a:prstGeom prst="roundRect">
            <a:avLst/>
          </a:prstGeom>
          <a:solidFill>
            <a:srgbClr val="1821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00F0FF"/>
                </a:solidFill>
              </a:defRPr>
            </a:pPr>
            <a:r>
              <a:t>PROCESSING ENGINE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2651760"/>
            <a:ext cx="21031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8FAFC"/>
                </a:solidFill>
              </a:defRPr>
            </a:pPr>
            <a:r>
              <a:t>Hardware-Accelerated NLP</a:t>
            </a:r>
          </a:p>
          <a:p>
            <a:pPr>
              <a:spcBef>
                <a:spcPts val="1000"/>
              </a:spcBef>
              <a:defRPr sz="1200">
                <a:solidFill>
                  <a:srgbClr val="CBD5E1"/>
                </a:solidFill>
              </a:defRPr>
            </a:pPr>
            <a:r>
              <a:t>Powered by AMD Developer Cloud ROCm infrastructure and Evolus AI agents to perform batch sentiment classification and topic extraction in seconds.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920240"/>
            <a:ext cx="2560320" cy="4206240"/>
          </a:xfrm>
          <a:prstGeom prst="roundRect">
            <a:avLst/>
          </a:prstGeom>
          <a:solidFill>
            <a:srgbClr val="121929"/>
          </a:solidFill>
          <a:ln w="15240">
            <a:solidFill>
              <a:srgbClr val="263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355080" y="2194560"/>
            <a:ext cx="2103120" cy="292608"/>
          </a:xfrm>
          <a:prstGeom prst="roundRect">
            <a:avLst/>
          </a:prstGeom>
          <a:solidFill>
            <a:srgbClr val="1821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10B981"/>
                </a:solidFill>
              </a:defRPr>
            </a:pPr>
            <a:r>
              <a:t>INSIGHT SYNTHESIS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651760"/>
            <a:ext cx="21031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8FAFC"/>
                </a:solidFill>
              </a:defRPr>
            </a:pPr>
            <a:r>
              <a:t>Root Friction &amp; Praise Isolation</a:t>
            </a:r>
          </a:p>
          <a:p>
            <a:pPr>
              <a:spcBef>
                <a:spcPts val="1000"/>
              </a:spcBef>
              <a:defRPr sz="1200">
                <a:solidFill>
                  <a:srgbClr val="CBD5E1"/>
                </a:solidFill>
              </a:defRPr>
            </a:pPr>
            <a:r>
              <a:t>Discovers real-world topic clusters, isolates top praise, identifies high-priority complaints, and computes precise sentiment percentage breakdowns.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23960" y="1920240"/>
            <a:ext cx="2560320" cy="4206240"/>
          </a:xfrm>
          <a:prstGeom prst="roundRect">
            <a:avLst/>
          </a:prstGeom>
          <a:solidFill>
            <a:srgbClr val="121929"/>
          </a:solidFill>
          <a:ln w="15240">
            <a:solidFill>
              <a:srgbClr val="263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052560" y="2194560"/>
            <a:ext cx="2103120" cy="292608"/>
          </a:xfrm>
          <a:prstGeom prst="roundRect">
            <a:avLst/>
          </a:prstGeom>
          <a:solidFill>
            <a:srgbClr val="1821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59E0B"/>
                </a:solidFill>
              </a:defRPr>
            </a:pPr>
            <a:r>
              <a:t>DECISION COPILOT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0" y="2651760"/>
            <a:ext cx="21031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8FAFC"/>
                </a:solidFill>
              </a:defRPr>
            </a:pPr>
            <a:r>
              <a:t>Interactive 'Ask AI' Q&amp;A</a:t>
            </a:r>
          </a:p>
          <a:p>
            <a:pPr>
              <a:spcBef>
                <a:spcPts val="1000"/>
              </a:spcBef>
              <a:defRPr sz="1200">
                <a:solidFill>
                  <a:srgbClr val="CBD5E1"/>
                </a:solidFill>
              </a:defRPr>
            </a:pPr>
            <a:r>
              <a:t>A conversational review assistant allowing product managers to ask natural-language questions grounded strictly in customer feedback data.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F0FF"/>
                </a:solidFill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5156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Multi-Tier Hybrid Architecture</a:t>
            </a:r>
          </a:p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</a:defRPr>
            </a:pPr>
            <a:r>
              <a:t>High-performance inference meets autonomous workflow orchestration.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2560320" cy="4206240"/>
          </a:xfrm>
          <a:prstGeom prst="roundRect">
            <a:avLst/>
          </a:prstGeom>
          <a:solidFill>
            <a:srgbClr val="121929"/>
          </a:solidFill>
          <a:ln w="15240">
            <a:solidFill>
              <a:srgbClr val="263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2194560"/>
            <a:ext cx="2194560" cy="292608"/>
          </a:xfrm>
          <a:prstGeom prst="roundRect">
            <a:avLst/>
          </a:prstGeom>
          <a:solidFill>
            <a:srgbClr val="1821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38BDF8"/>
                </a:solidFill>
              </a:defRPr>
            </a:pPr>
            <a:r>
              <a:t>VERCEL WEB APP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651760"/>
            <a:ext cx="21945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8FAFC"/>
                </a:solidFill>
              </a:defRPr>
            </a:pPr>
            <a:r>
              <a:t>Tier 1: Presentation Layer</a:t>
            </a:r>
          </a:p>
          <a:p>
            <a:pPr>
              <a:spcBef>
                <a:spcPts val="800"/>
              </a:spcBef>
              <a:defRPr sz="1100">
                <a:solidFill>
                  <a:srgbClr val="CBD5E1"/>
                </a:solidFill>
              </a:defRPr>
            </a:pPr>
            <a:r>
              <a:t>• Next-gen responsive dark dashboard</a:t>
            </a:r>
          </a:p>
          <a:p>
            <a:pPr>
              <a:spcBef>
                <a:spcPts val="800"/>
              </a:spcBef>
              <a:defRPr sz="1100">
                <a:solidFill>
                  <a:srgbClr val="CBD5E1"/>
                </a:solidFill>
              </a:defRPr>
            </a:pPr>
            <a:r>
              <a:t>• Interactive SVG Sentiment Radial Chart</a:t>
            </a:r>
          </a:p>
          <a:p>
            <a:pPr>
              <a:spcBef>
                <a:spcPts val="800"/>
              </a:spcBef>
              <a:defRPr sz="1100">
                <a:solidFill>
                  <a:srgbClr val="CBD5E1"/>
                </a:solidFill>
              </a:defRPr>
            </a:pPr>
            <a:r>
              <a:t>• Real-time analysis progress tracker</a:t>
            </a:r>
          </a:p>
          <a:p>
            <a:pPr>
              <a:spcBef>
                <a:spcPts val="800"/>
              </a:spcBef>
              <a:defRPr sz="1100">
                <a:solidFill>
                  <a:srgbClr val="CBD5E1"/>
                </a:solidFill>
              </a:defRPr>
            </a:pPr>
            <a:r>
              <a:t>• Live search &amp; multi-facet sentiment filtering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920240"/>
            <a:ext cx="2560320" cy="4206240"/>
          </a:xfrm>
          <a:prstGeom prst="roundRect">
            <a:avLst/>
          </a:prstGeom>
          <a:solidFill>
            <a:srgbClr val="121929"/>
          </a:solidFill>
          <a:ln w="15240">
            <a:solidFill>
              <a:srgbClr val="263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611880" y="2194560"/>
            <a:ext cx="2194560" cy="292608"/>
          </a:xfrm>
          <a:prstGeom prst="roundRect">
            <a:avLst/>
          </a:prstGeom>
          <a:solidFill>
            <a:srgbClr val="1821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00F0FF"/>
                </a:solidFill>
              </a:defRPr>
            </a:pPr>
            <a:r>
              <a:t>FASTAPI &amp; PYTHON 3.11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11880" y="2651760"/>
            <a:ext cx="21945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8FAFC"/>
                </a:solidFill>
              </a:defRPr>
            </a:pPr>
            <a:r>
              <a:t>Tier 2: Backend Orchestration</a:t>
            </a:r>
          </a:p>
          <a:p>
            <a:pPr>
              <a:spcBef>
                <a:spcPts val="800"/>
              </a:spcBef>
              <a:defRPr sz="1100">
                <a:solidFill>
                  <a:srgbClr val="CBD5E1"/>
                </a:solidFill>
              </a:defRPr>
            </a:pPr>
            <a:r>
              <a:t>• Async data sanitization &amp; review parsing</a:t>
            </a:r>
          </a:p>
          <a:p>
            <a:pPr>
              <a:spcBef>
                <a:spcPts val="800"/>
              </a:spcBef>
              <a:defRPr sz="1100">
                <a:solidFill>
                  <a:srgbClr val="CBD5E1"/>
                </a:solidFill>
              </a:defRPr>
            </a:pPr>
            <a:r>
              <a:t>• Supabase PostgreSQL + SQLite dual-engine</a:t>
            </a:r>
          </a:p>
          <a:p>
            <a:pPr>
              <a:spcBef>
                <a:spcPts val="800"/>
              </a:spcBef>
              <a:defRPr sz="1100">
                <a:solidFill>
                  <a:srgbClr val="CBD5E1"/>
                </a:solidFill>
              </a:defRPr>
            </a:pPr>
            <a:r>
              <a:t>• OAuth2 JWT authentication &amp; API key management</a:t>
            </a:r>
          </a:p>
          <a:p>
            <a:pPr>
              <a:spcBef>
                <a:spcPts val="800"/>
              </a:spcBef>
              <a:defRPr sz="1100">
                <a:solidFill>
                  <a:srgbClr val="CBD5E1"/>
                </a:solidFill>
              </a:defRPr>
            </a:pPr>
            <a:r>
              <a:t>• HMAC-SHA256 authenticated Webhook dispatch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920240"/>
            <a:ext cx="2560320" cy="4206240"/>
          </a:xfrm>
          <a:prstGeom prst="roundRect">
            <a:avLst/>
          </a:prstGeom>
          <a:solidFill>
            <a:srgbClr val="121929"/>
          </a:solidFill>
          <a:ln w="15240">
            <a:solidFill>
              <a:srgbClr val="263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309360" y="2194560"/>
            <a:ext cx="2194560" cy="292608"/>
          </a:xfrm>
          <a:prstGeom prst="roundRect">
            <a:avLst/>
          </a:prstGeom>
          <a:solidFill>
            <a:srgbClr val="1821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ED1C24"/>
                </a:solidFill>
              </a:defRPr>
            </a:pPr>
            <a:r>
              <a:t>AMD DEVELOPER CLOUD / ROCM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2651760"/>
            <a:ext cx="21945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8FAFC"/>
                </a:solidFill>
              </a:defRPr>
            </a:pPr>
            <a:r>
              <a:t>Tier 3: Hardware Inference</a:t>
            </a:r>
          </a:p>
          <a:p>
            <a:pPr>
              <a:spcBef>
                <a:spcPts val="800"/>
              </a:spcBef>
              <a:defRPr sz="1100">
                <a:solidFill>
                  <a:srgbClr val="CBD5E1"/>
                </a:solidFill>
              </a:defRPr>
            </a:pPr>
            <a:r>
              <a:t>• Dedicated high-throughput AMD GPU instance</a:t>
            </a:r>
          </a:p>
          <a:p>
            <a:pPr>
              <a:spcBef>
                <a:spcPts val="800"/>
              </a:spcBef>
              <a:defRPr sz="1100">
                <a:solidFill>
                  <a:srgbClr val="CBD5E1"/>
                </a:solidFill>
              </a:defRPr>
            </a:pPr>
            <a:r>
              <a:t>• DeepSeek-V4-Flash model engine</a:t>
            </a:r>
          </a:p>
          <a:p>
            <a:pPr>
              <a:spcBef>
                <a:spcPts val="800"/>
              </a:spcBef>
              <a:defRPr sz="1100">
                <a:solidFill>
                  <a:srgbClr val="CBD5E1"/>
                </a:solidFill>
              </a:defRPr>
            </a:pPr>
            <a:r>
              <a:t>• Optimized JSON-mode semantic extraction</a:t>
            </a:r>
          </a:p>
          <a:p>
            <a:pPr>
              <a:spcBef>
                <a:spcPts val="800"/>
              </a:spcBef>
              <a:defRPr sz="1100">
                <a:solidFill>
                  <a:srgbClr val="CBD5E1"/>
                </a:solidFill>
              </a:defRPr>
            </a:pPr>
            <a:r>
              <a:t>• Sub-second batch inference latency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23960" y="1920240"/>
            <a:ext cx="2560320" cy="4206240"/>
          </a:xfrm>
          <a:prstGeom prst="roundRect">
            <a:avLst/>
          </a:prstGeom>
          <a:solidFill>
            <a:srgbClr val="121929"/>
          </a:solidFill>
          <a:ln w="15240">
            <a:solidFill>
              <a:srgbClr val="263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006840" y="2194560"/>
            <a:ext cx="2194560" cy="292608"/>
          </a:xfrm>
          <a:prstGeom prst="roundRect">
            <a:avLst/>
          </a:prstGeom>
          <a:solidFill>
            <a:srgbClr val="1821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10B981"/>
                </a:solidFill>
              </a:defRPr>
            </a:pPr>
            <a:r>
              <a:t>EVOLUS AI WORKSPACES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06840" y="2651760"/>
            <a:ext cx="21945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8FAFC"/>
                </a:solidFill>
              </a:defRPr>
            </a:pPr>
            <a:r>
              <a:t>Tier 4: Agent Platform</a:t>
            </a:r>
          </a:p>
          <a:p>
            <a:pPr>
              <a:spcBef>
                <a:spcPts val="800"/>
              </a:spcBef>
              <a:defRPr sz="1100">
                <a:solidFill>
                  <a:srgbClr val="CBD5E1"/>
                </a:solidFill>
              </a:defRPr>
            </a:pPr>
            <a:r>
              <a:t>• Workspace ID: 5f96b97d-e488-44dc...</a:t>
            </a:r>
          </a:p>
          <a:p>
            <a:pPr>
              <a:spcBef>
                <a:spcPts val="800"/>
              </a:spcBef>
              <a:defRPr sz="1100">
                <a:solidFill>
                  <a:srgbClr val="CBD5E1"/>
                </a:solidFill>
              </a:defRPr>
            </a:pPr>
            <a:r>
              <a:t>• Agent ID: aa475004-2f3e-4b8c... (Review Insight)</a:t>
            </a:r>
          </a:p>
          <a:p>
            <a:pPr>
              <a:spcBef>
                <a:spcPts val="800"/>
              </a:spcBef>
              <a:defRPr sz="1100">
                <a:solidFill>
                  <a:srgbClr val="CBD5E1"/>
                </a:solidFill>
              </a:defRPr>
            </a:pPr>
            <a:r>
              <a:t>• Knowledge library ingestion &amp; context RAG</a:t>
            </a:r>
          </a:p>
          <a:p>
            <a:pPr>
              <a:spcBef>
                <a:spcPts val="800"/>
              </a:spcBef>
              <a:defRPr sz="1100">
                <a:solidFill>
                  <a:srgbClr val="CBD5E1"/>
                </a:solidFill>
              </a:defRPr>
            </a:pPr>
            <a:r>
              <a:t>• Enterprise autonomous review workflows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ED1C24"/>
                </a:solidFill>
              </a:defRPr>
            </a:pPr>
            <a:r>
              <a:t>HARDWARE ACCELERATION TRACK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5156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Deep-Dive: AMD Hardware &amp; ROCm Acceleration</a:t>
            </a:r>
          </a:p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</a:defRPr>
            </a:pPr>
            <a:r>
              <a:t>Purpose-built for massive parallelism and high-throughput LLM inference.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74519"/>
            <a:ext cx="10728655" cy="1325880"/>
          </a:xfrm>
          <a:prstGeom prst="roundRect">
            <a:avLst/>
          </a:prstGeom>
          <a:solidFill>
            <a:srgbClr val="121929"/>
          </a:solidFill>
          <a:ln w="15240">
            <a:solidFill>
              <a:srgbClr val="263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05840" y="2103120"/>
            <a:ext cx="548640" cy="320040"/>
          </a:xfrm>
          <a:prstGeom prst="round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8FAFC"/>
                </a:solidFill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2011679"/>
            <a:ext cx="94183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8FAFC"/>
                </a:solidFill>
              </a:defRPr>
            </a:pPr>
            <a:r>
              <a:t>High-Throughput Review Batching  —  </a:t>
            </a:r>
            <a:r>
              <a:rPr b="0">
                <a:solidFill>
                  <a:srgbClr val="ED1C24"/>
                </a:solidFill>
              </a:rPr>
              <a:t>Chunking &amp; Parallel Pipelines</a:t>
            </a:r>
          </a:p>
          <a:p>
            <a:pPr>
              <a:spcBef>
                <a:spcPts val="400"/>
              </a:spcBef>
              <a:defRPr sz="1200">
                <a:solidFill>
                  <a:srgbClr val="CBD5E1"/>
                </a:solidFill>
              </a:defRPr>
            </a:pPr>
            <a:r>
              <a:t>NeuroForge segments large review datasets into 50-review micro-batches, parallelizing inference over AMD Developer Cloud endpoints. This reduces API payload roundtrips by 90% while maximizing GPU compute utilization.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337560"/>
            <a:ext cx="10728655" cy="1325880"/>
          </a:xfrm>
          <a:prstGeom prst="roundRect">
            <a:avLst/>
          </a:prstGeom>
          <a:solidFill>
            <a:srgbClr val="121929"/>
          </a:solidFill>
          <a:ln w="15240">
            <a:solidFill>
              <a:srgbClr val="263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05840" y="3566160"/>
            <a:ext cx="548640" cy="320040"/>
          </a:xfrm>
          <a:prstGeom prst="round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8FAFC"/>
                </a:solidFill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3474720"/>
            <a:ext cx="94183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8FAFC"/>
                </a:solidFill>
              </a:defRPr>
            </a:pPr>
            <a:r>
              <a:t>ROCm-Optimized DeepSeek-V4-Flash  —  </a:t>
            </a:r>
            <a:r>
              <a:rPr b="0">
                <a:solidFill>
                  <a:srgbClr val="00F0FF"/>
                </a:solidFill>
              </a:rPr>
              <a:t>Deterministic JSON Mode Engine</a:t>
            </a:r>
          </a:p>
          <a:p>
            <a:pPr>
              <a:spcBef>
                <a:spcPts val="400"/>
              </a:spcBef>
              <a:defRPr sz="1200">
                <a:solidFill>
                  <a:srgbClr val="CBD5E1"/>
                </a:solidFill>
              </a:defRPr>
            </a:pPr>
            <a:r>
              <a:t>Leverages the DeepSeek-V4-Flash model running on AMD ROCm compute stacks. Delivers strict JSON schema conformity, zero formatting hallucinations, and instantaneous token generation for high-volume customer streams.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800600"/>
            <a:ext cx="10728655" cy="1325880"/>
          </a:xfrm>
          <a:prstGeom prst="roundRect">
            <a:avLst/>
          </a:prstGeom>
          <a:solidFill>
            <a:srgbClr val="121929"/>
          </a:solidFill>
          <a:ln w="15240">
            <a:solidFill>
              <a:srgbClr val="263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05840" y="5029200"/>
            <a:ext cx="548640" cy="3200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8FAFC"/>
                </a:solidFill>
              </a:defRPr>
            </a:pPr>
            <a: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4937760"/>
            <a:ext cx="94183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8FAFC"/>
                </a:solidFill>
              </a:defRPr>
            </a:pPr>
            <a:r>
              <a:t>Resilient Failover Architecture  —  </a:t>
            </a:r>
            <a:r>
              <a:rPr b="0">
                <a:solidFill>
                  <a:srgbClr val="10B981"/>
                </a:solidFill>
              </a:rPr>
              <a:t>Dual-Engine High Availability</a:t>
            </a:r>
          </a:p>
          <a:p>
            <a:pPr>
              <a:spcBef>
                <a:spcPts val="400"/>
              </a:spcBef>
              <a:defRPr sz="1200">
                <a:solidFill>
                  <a:srgbClr val="CBD5E1"/>
                </a:solidFill>
              </a:defRPr>
            </a:pPr>
            <a:r>
              <a:t>Built with enterprise fault tolerance: the backend dynamically balances requests between AMD Developer Cloud direct acceleration and Evolus Agent endpoints with exponential backoff retry logic.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486400"/>
            <a:ext cx="10728655" cy="777240"/>
          </a:xfrm>
          <a:prstGeom prst="roundRect">
            <a:avLst/>
          </a:prstGeom>
          <a:solidFill>
            <a:srgbClr val="182135"/>
          </a:solidFill>
          <a:ln w="15240">
            <a:solidFill>
              <a:srgbClr val="263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5623560"/>
            <a:ext cx="10241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F0FF"/>
                </a:solidFill>
              </a:defRPr>
            </a:pPr>
            <a:r>
              <a:t>⚡ BENCHMARK: 1,000 Reviews analyzed in &lt; 8.2 seconds on AMD ROCm vs. 85+ seconds on standard cloud CPU nodes.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F0FF"/>
                </a:solidFill>
              </a:defRPr>
            </a:pPr>
            <a:r>
              <a:t>PARTNER INTEGRATION TRACK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5156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Deep-Dive: Evolus AI Autonomous Agent Orchestration</a:t>
            </a:r>
          </a:p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</a:defRPr>
            </a:pPr>
            <a:r>
              <a:t>Transforming static model inference into continuous enterprise business workflows.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5257800" cy="2011680"/>
          </a:xfrm>
          <a:prstGeom prst="roundRect">
            <a:avLst/>
          </a:prstGeom>
          <a:solidFill>
            <a:srgbClr val="121929"/>
          </a:solidFill>
          <a:ln w="15240">
            <a:solidFill>
              <a:srgbClr val="263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05840" y="2194560"/>
            <a:ext cx="1828800" cy="274320"/>
          </a:xfrm>
          <a:prstGeom prst="roundRect">
            <a:avLst/>
          </a:prstGeom>
          <a:solidFill>
            <a:srgbClr val="1C2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38BDF8"/>
                </a:solidFill>
              </a:defRPr>
            </a:pPr>
            <a:r>
              <a:t>ORCHESTRATION CONFIG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47091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8FAFC"/>
                </a:solidFill>
              </a:defRPr>
            </a:pPr>
            <a:r>
              <a:t>Workspace &amp; Agent Setup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</a:defRPr>
            </a:pPr>
            <a:r>
              <a:t>Connected via Evolus Workspace ID (5f96b97d-e488-44dc-973d-09c30c5625aa) and dedicated 'Review Insight Analyst' Agent (aa475004-2f3e-4b8c-93cd-0676450c5058).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920240"/>
            <a:ext cx="5257800" cy="2011680"/>
          </a:xfrm>
          <a:prstGeom prst="roundRect">
            <a:avLst/>
          </a:prstGeom>
          <a:solidFill>
            <a:srgbClr val="121929"/>
          </a:solidFill>
          <a:ln w="15240">
            <a:solidFill>
              <a:srgbClr val="263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46520" y="2194560"/>
            <a:ext cx="1828800" cy="274320"/>
          </a:xfrm>
          <a:prstGeom prst="roundRect">
            <a:avLst/>
          </a:prstGeom>
          <a:solidFill>
            <a:srgbClr val="1C2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00F0FF"/>
                </a:solidFill>
              </a:defRPr>
            </a:pPr>
            <a:r>
              <a:t>KNOWLEDGE RAG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606040"/>
            <a:ext cx="47091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8FAFC"/>
                </a:solidFill>
              </a:defRPr>
            </a:pPr>
            <a:r>
              <a:t>Knowledge Library Ingestion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</a:defRPr>
            </a:pPr>
            <a:r>
              <a:t>Historical review datasets and customer transcripts are dynamically indexed into the Evolus knowledge base, providing domain-specific RAG context for deeper qualitative insights.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114800"/>
            <a:ext cx="5257800" cy="2011680"/>
          </a:xfrm>
          <a:prstGeom prst="roundRect">
            <a:avLst/>
          </a:prstGeom>
          <a:solidFill>
            <a:srgbClr val="121929"/>
          </a:solidFill>
          <a:ln w="15240">
            <a:solidFill>
              <a:srgbClr val="263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05840" y="4389120"/>
            <a:ext cx="1828800" cy="274320"/>
          </a:xfrm>
          <a:prstGeom prst="roundRect">
            <a:avLst/>
          </a:prstGeom>
          <a:solidFill>
            <a:srgbClr val="1C2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10B981"/>
                </a:solidFill>
              </a:defRPr>
            </a:pPr>
            <a:r>
              <a:t>AGENT PIPELINES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800600"/>
            <a:ext cx="47091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8FAFC"/>
                </a:solidFill>
              </a:defRPr>
            </a:pPr>
            <a:r>
              <a:t>Automated Business Tasks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</a:defRPr>
            </a:pPr>
            <a:r>
              <a:t>Triggers multi-step agent workflows: sentiment scoring, negative spike alert notifications, product defect taxonomy classification, and executive summary creation.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4114800"/>
            <a:ext cx="5257800" cy="2011680"/>
          </a:xfrm>
          <a:prstGeom prst="roundRect">
            <a:avLst/>
          </a:prstGeom>
          <a:solidFill>
            <a:srgbClr val="121929"/>
          </a:solidFill>
          <a:ln w="15240">
            <a:solidFill>
              <a:srgbClr val="263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46520" y="4389120"/>
            <a:ext cx="1828800" cy="274320"/>
          </a:xfrm>
          <a:prstGeom prst="roundRect">
            <a:avLst/>
          </a:prstGeom>
          <a:solidFill>
            <a:srgbClr val="1C2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59E0B"/>
                </a:solidFill>
              </a:defRPr>
            </a:pPr>
            <a:r>
              <a:t>STATUS AUDIT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4800600"/>
            <a:ext cx="47091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8FAFC"/>
                </a:solidFill>
              </a:defRPr>
            </a:pPr>
            <a:r>
              <a:t>Verification Endpoints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</a:defRPr>
            </a:pPr>
            <a:r>
              <a:t>Exposes dedicated inspection routes (/evolus/info and /evolus/sync) enabling hackathon judges and enterprise admins to audit agent connectivity and health.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PRODUCT CAPABILITIES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5156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Enterprise-Grade UX: From Raw CSV to Decisive Action</a:t>
            </a:r>
          </a:p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</a:defRPr>
            </a:pPr>
            <a:r>
              <a:t>Engineered for executive clarity with modern interaction patterns.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3474720" cy="1965960"/>
          </a:xfrm>
          <a:prstGeom prst="roundRect">
            <a:avLst/>
          </a:prstGeom>
          <a:solidFill>
            <a:srgbClr val="121929"/>
          </a:solidFill>
          <a:ln w="15240">
            <a:solidFill>
              <a:srgbClr val="263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0120" y="2148840"/>
            <a:ext cx="1371600" cy="256032"/>
          </a:xfrm>
          <a:prstGeom prst="roundRect">
            <a:avLst/>
          </a:prstGeom>
          <a:solidFill>
            <a:srgbClr val="1C2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38BDF8"/>
                </a:solidFill>
              </a:defRPr>
            </a:pPr>
            <a:r>
              <a:t>FEATURE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514600"/>
            <a:ext cx="3017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8FAFC"/>
                </a:solidFill>
              </a:defRPr>
            </a:pPr>
            <a:r>
              <a:t>1. Dynamic Ingestion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</a:defRPr>
            </a:pPr>
            <a:r>
              <a:t>Upload CSV or import live review URLs with one-click demo data loading.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920240"/>
            <a:ext cx="3474720" cy="1965960"/>
          </a:xfrm>
          <a:prstGeom prst="roundRect">
            <a:avLst/>
          </a:prstGeom>
          <a:solidFill>
            <a:srgbClr val="121929"/>
          </a:solidFill>
          <a:ln w="15240">
            <a:solidFill>
              <a:srgbClr val="263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72000" y="2148840"/>
            <a:ext cx="1371600" cy="256032"/>
          </a:xfrm>
          <a:prstGeom prst="roundRect">
            <a:avLst/>
          </a:prstGeom>
          <a:solidFill>
            <a:srgbClr val="1C2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00F0FF"/>
                </a:solidFill>
              </a:defRPr>
            </a:pPr>
            <a:r>
              <a:t>FEATURE 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514600"/>
            <a:ext cx="3017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8FAFC"/>
                </a:solidFill>
              </a:defRPr>
            </a:pPr>
            <a:r>
              <a:t>2. Real-Time Pipeline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</a:defRPr>
            </a:pPr>
            <a:r>
              <a:t>4-stage interactive progress tracker: Ingest -&gt; Analyze -&gt; Topic Extract -&gt; Insights.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80" y="1920240"/>
            <a:ext cx="3474720" cy="1965960"/>
          </a:xfrm>
          <a:prstGeom prst="roundRect">
            <a:avLst/>
          </a:prstGeom>
          <a:solidFill>
            <a:srgbClr val="121929"/>
          </a:solidFill>
          <a:ln w="15240">
            <a:solidFill>
              <a:srgbClr val="263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183880" y="2148840"/>
            <a:ext cx="1371600" cy="256032"/>
          </a:xfrm>
          <a:prstGeom prst="roundRect">
            <a:avLst/>
          </a:prstGeom>
          <a:solidFill>
            <a:srgbClr val="1C2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10B981"/>
                </a:solidFill>
              </a:defRPr>
            </a:pPr>
            <a:r>
              <a:t>FEATURE 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80" y="2514600"/>
            <a:ext cx="3017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8FAFC"/>
                </a:solidFill>
              </a:defRPr>
            </a:pPr>
            <a:r>
              <a:t>3. Sentiment Spectrum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</a:defRPr>
            </a:pPr>
            <a:r>
              <a:t>SVG Donut visualizer, star-rating breakdown &amp; length distribution metrics.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069080"/>
            <a:ext cx="3474720" cy="1965960"/>
          </a:xfrm>
          <a:prstGeom prst="roundRect">
            <a:avLst/>
          </a:prstGeom>
          <a:solidFill>
            <a:srgbClr val="121929"/>
          </a:solidFill>
          <a:ln w="15240">
            <a:solidFill>
              <a:srgbClr val="263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60120" y="4297680"/>
            <a:ext cx="1371600" cy="256032"/>
          </a:xfrm>
          <a:prstGeom prst="roundRect">
            <a:avLst/>
          </a:prstGeom>
          <a:solidFill>
            <a:srgbClr val="1C2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59E0B"/>
                </a:solidFill>
              </a:defRPr>
            </a:pPr>
            <a:r>
              <a:t>FEATURE 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4663440"/>
            <a:ext cx="3017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8FAFC"/>
                </a:solidFill>
              </a:defRPr>
            </a:pPr>
            <a:r>
              <a:t>4. Topic Intelligence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</a:defRPr>
            </a:pPr>
            <a:r>
              <a:t>Discovers top strengths &amp; complaints clusters with percentage frequency tags.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43400" y="4069080"/>
            <a:ext cx="3474720" cy="1965960"/>
          </a:xfrm>
          <a:prstGeom prst="roundRect">
            <a:avLst/>
          </a:prstGeom>
          <a:solidFill>
            <a:srgbClr val="121929"/>
          </a:solidFill>
          <a:ln w="15240">
            <a:solidFill>
              <a:srgbClr val="263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572000" y="4297680"/>
            <a:ext cx="1371600" cy="256032"/>
          </a:xfrm>
          <a:prstGeom prst="roundRect">
            <a:avLst/>
          </a:prstGeom>
          <a:solidFill>
            <a:srgbClr val="1C2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38BDF8"/>
                </a:solidFill>
              </a:defRPr>
            </a:pPr>
            <a:r>
              <a:t>FEATURE 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4663440"/>
            <a:ext cx="3017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8FAFC"/>
                </a:solidFill>
              </a:defRPr>
            </a:pPr>
            <a:r>
              <a:t>5. 'Ask AI' Q&amp;A Copilot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</a:defRPr>
            </a:pPr>
            <a:r>
              <a:t>Natural-language customer chat assistant backed by grounded review context.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55280" y="4069080"/>
            <a:ext cx="3474720" cy="1965960"/>
          </a:xfrm>
          <a:prstGeom prst="roundRect">
            <a:avLst/>
          </a:prstGeom>
          <a:solidFill>
            <a:srgbClr val="121929"/>
          </a:solidFill>
          <a:ln w="15240">
            <a:solidFill>
              <a:srgbClr val="263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183880" y="4297680"/>
            <a:ext cx="1371600" cy="256032"/>
          </a:xfrm>
          <a:prstGeom prst="roundRect">
            <a:avLst/>
          </a:prstGeom>
          <a:solidFill>
            <a:srgbClr val="1C2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00F0FF"/>
                </a:solidFill>
              </a:defRPr>
            </a:pPr>
            <a:r>
              <a:t>FEATURE 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83880" y="4663440"/>
            <a:ext cx="3017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8FAFC"/>
                </a:solidFill>
              </a:defRPr>
            </a:pPr>
            <a:r>
              <a:t>6. 1-Click Exporting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</a:defRPr>
            </a:pPr>
            <a:r>
              <a:t>Download ready-to-share Executive Markdown summaries and structured JSON data.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BUSINESS CASE &amp;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5156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Measurable Business Value &amp; Enterprise ROI</a:t>
            </a:r>
          </a:p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</a:defRPr>
            </a:pPr>
            <a:r>
              <a:t>Quantifiable efficiency gains and revenue protection for modern brands.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2560320" cy="4206240"/>
          </a:xfrm>
          <a:prstGeom prst="roundRect">
            <a:avLst/>
          </a:prstGeom>
          <a:solidFill>
            <a:srgbClr val="121929"/>
          </a:solidFill>
          <a:ln w="15240">
            <a:solidFill>
              <a:srgbClr val="263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21945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00F0FF"/>
                </a:solidFill>
              </a:defRPr>
            </a:pPr>
            <a:r>
              <a:t>95%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291840"/>
            <a:ext cx="21945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8FAFC"/>
                </a:solidFill>
              </a:defRPr>
            </a:pPr>
            <a:r>
              <a:t>Time Saved</a:t>
            </a:r>
          </a:p>
          <a:p>
            <a:pPr>
              <a:spcBef>
                <a:spcPts val="800"/>
              </a:spcBef>
              <a:defRPr sz="1200">
                <a:solidFill>
                  <a:srgbClr val="CBD5E1"/>
                </a:solidFill>
              </a:defRPr>
            </a:pPr>
            <a:r>
              <a:t>From 15 hours of manual analysis to under 8 seconds per batch of reviews.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920240"/>
            <a:ext cx="2560320" cy="4206240"/>
          </a:xfrm>
          <a:prstGeom prst="roundRect">
            <a:avLst/>
          </a:prstGeom>
          <a:solidFill>
            <a:srgbClr val="121929"/>
          </a:solidFill>
          <a:ln w="15240">
            <a:solidFill>
              <a:srgbClr val="263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11880" y="2286000"/>
            <a:ext cx="21945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00F0FF"/>
                </a:solidFill>
              </a:defRPr>
            </a:pPr>
            <a:r>
              <a:t>$120K+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11880" y="3291840"/>
            <a:ext cx="21945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8FAFC"/>
                </a:solidFill>
              </a:defRPr>
            </a:pPr>
            <a:r>
              <a:t>Annual Cost Savings</a:t>
            </a:r>
          </a:p>
          <a:p>
            <a:pPr>
              <a:spcBef>
                <a:spcPts val="800"/>
              </a:spcBef>
              <a:defRPr sz="1200">
                <a:solidFill>
                  <a:srgbClr val="CBD5E1"/>
                </a:solidFill>
              </a:defRPr>
            </a:pPr>
            <a:r>
              <a:t>Eliminates repetitive manual customer research overhead for mid-market teams.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920240"/>
            <a:ext cx="2560320" cy="4206240"/>
          </a:xfrm>
          <a:prstGeom prst="roundRect">
            <a:avLst/>
          </a:prstGeom>
          <a:solidFill>
            <a:srgbClr val="121929"/>
          </a:solidFill>
          <a:ln w="15240">
            <a:solidFill>
              <a:srgbClr val="263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2286000"/>
            <a:ext cx="21945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00F0FF"/>
                </a:solidFill>
              </a:defRPr>
            </a:pPr>
            <a:r>
              <a:t>3.4x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3291840"/>
            <a:ext cx="21945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8FAFC"/>
                </a:solidFill>
              </a:defRPr>
            </a:pPr>
            <a:r>
              <a:t>Faster Sprint Iterations</a:t>
            </a:r>
          </a:p>
          <a:p>
            <a:pPr>
              <a:spcBef>
                <a:spcPts val="800"/>
              </a:spcBef>
              <a:defRPr sz="1200">
                <a:solidFill>
                  <a:srgbClr val="CBD5E1"/>
                </a:solidFill>
              </a:defRPr>
            </a:pPr>
            <a:r>
              <a:t>Engineering fixes top customer pain points within days rather than waiting for quarterly audits.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23960" y="1920240"/>
            <a:ext cx="2560320" cy="4206240"/>
          </a:xfrm>
          <a:prstGeom prst="roundRect">
            <a:avLst/>
          </a:prstGeom>
          <a:solidFill>
            <a:srgbClr val="121929"/>
          </a:solidFill>
          <a:ln w="15240">
            <a:solidFill>
              <a:srgbClr val="263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06840" y="2286000"/>
            <a:ext cx="21945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00F0FF"/>
                </a:solidFill>
              </a:defRPr>
            </a:pPr>
            <a:r>
              <a:t>&lt; 1%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06840" y="3291840"/>
            <a:ext cx="21945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8FAFC"/>
                </a:solidFill>
              </a:defRPr>
            </a:pPr>
            <a:r>
              <a:t>Churn Risk Alerting</a:t>
            </a:r>
          </a:p>
          <a:p>
            <a:pPr>
              <a:spcBef>
                <a:spcPts val="800"/>
              </a:spcBef>
              <a:defRPr sz="1200">
                <a:solidFill>
                  <a:srgbClr val="CBD5E1"/>
                </a:solidFill>
              </a:defRPr>
            </a:pPr>
            <a:r>
              <a:t>Automated webhook dispatching catches critical defects before churn compounds.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F0FF"/>
                </a:solidFill>
              </a:defRPr>
            </a:pPr>
            <a:r>
              <a:t>MARKET POSITION &amp;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5156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Competitive Edge &amp; Strategic Product Roadmap</a:t>
            </a:r>
          </a:p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</a:defRPr>
            </a:pPr>
            <a:r>
              <a:t>Positioned at the intersection of high-performance compute and agentic workflows.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5257800" cy="4206240"/>
          </a:xfrm>
          <a:prstGeom prst="roundRect">
            <a:avLst/>
          </a:prstGeom>
          <a:solidFill>
            <a:srgbClr val="121929"/>
          </a:solidFill>
          <a:ln w="15240">
            <a:solidFill>
              <a:srgbClr val="263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05840" y="2148840"/>
            <a:ext cx="2194560" cy="292608"/>
          </a:xfrm>
          <a:prstGeom prst="roundRect">
            <a:avLst/>
          </a:prstGeom>
          <a:solidFill>
            <a:srgbClr val="1C2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00F0FF"/>
                </a:solidFill>
              </a:defRPr>
            </a:pPr>
            <a:r>
              <a:t>COMPETITIVE ADVANTAGE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560320"/>
            <a:ext cx="47091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200" b="1">
                <a:solidFill>
                  <a:srgbClr val="F8FAFC"/>
                </a:solidFill>
              </a:defRPr>
            </a:pPr>
            <a:r>
              <a:t>• vs. Generic Chatbots: </a:t>
            </a:r>
            <a:r>
              <a:rPr b="0">
                <a:solidFill>
                  <a:srgbClr val="CBD5E1"/>
                </a:solidFill>
              </a:rPr>
              <a:t>Domain-trained customer analysis pipeline with strict JSON topic schemas, not hallucinated free-text.</a:t>
            </a:r>
          </a:p>
          <a:p>
            <a:pPr>
              <a:spcBef>
                <a:spcPts val="1000"/>
              </a:spcBef>
              <a:defRPr sz="1200" b="1">
                <a:solidFill>
                  <a:srgbClr val="F8FAFC"/>
                </a:solidFill>
              </a:defRPr>
            </a:pPr>
            <a:r>
              <a:t>• vs. Legacy Sentiment Tools: </a:t>
            </a:r>
            <a:r>
              <a:rPr b="0">
                <a:solidFill>
                  <a:srgbClr val="CBD5E1"/>
                </a:solidFill>
              </a:rPr>
              <a:t>Understands semantic context, sarcasm, and multi-clause reviews (e.g. 'loved battery, hated display').</a:t>
            </a:r>
          </a:p>
          <a:p>
            <a:pPr>
              <a:spcBef>
                <a:spcPts val="1000"/>
              </a:spcBef>
              <a:defRPr sz="1200" b="1">
                <a:solidFill>
                  <a:srgbClr val="F8FAFC"/>
                </a:solidFill>
              </a:defRPr>
            </a:pPr>
            <a:r>
              <a:t>• vs. High-Cost Cloud APIs: </a:t>
            </a:r>
            <a:r>
              <a:rPr b="0">
                <a:solidFill>
                  <a:srgbClr val="CBD5E1"/>
                </a:solidFill>
              </a:rPr>
              <a:t>Leverages AMD Developer Cloud GPU efficiency, reducing per-token inference costs by over 60%.</a:t>
            </a:r>
          </a:p>
          <a:p>
            <a:pPr>
              <a:spcBef>
                <a:spcPts val="1000"/>
              </a:spcBef>
              <a:defRPr sz="1200" b="1">
                <a:solidFill>
                  <a:srgbClr val="F8FAFC"/>
                </a:solidFill>
              </a:defRPr>
            </a:pPr>
            <a:r>
              <a:t>• Enterprise Extensibility: </a:t>
            </a:r>
            <a:r>
              <a:rPr b="0">
                <a:solidFill>
                  <a:srgbClr val="CBD5E1"/>
                </a:solidFill>
              </a:rPr>
              <a:t>Full REST API v1 (`/api/v1/analyze`) with API keys and secure HMAC Webhooks.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920240"/>
            <a:ext cx="5285232" cy="4206240"/>
          </a:xfrm>
          <a:prstGeom prst="roundRect">
            <a:avLst/>
          </a:prstGeom>
          <a:solidFill>
            <a:srgbClr val="121929"/>
          </a:solidFill>
          <a:ln w="15240">
            <a:solidFill>
              <a:srgbClr val="263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46520" y="2148840"/>
            <a:ext cx="1828800" cy="292608"/>
          </a:xfrm>
          <a:prstGeom prst="roundRect">
            <a:avLst/>
          </a:prstGeom>
          <a:solidFill>
            <a:srgbClr val="1C2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ED1C24"/>
                </a:solidFill>
              </a:defRPr>
            </a:pPr>
            <a:r>
              <a:t>STRATEGIC ROADMAP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560320"/>
            <a:ext cx="47091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200" b="1">
                <a:solidFill>
                  <a:srgbClr val="ED1C24"/>
                </a:solidFill>
              </a:defRPr>
            </a:pPr>
            <a:r>
              <a:t>✦ Phase 1: Multi-Modal Ingestion: </a:t>
            </a:r>
            <a:r>
              <a:rPr b="0">
                <a:solidFill>
                  <a:srgbClr val="CBD5E1"/>
                </a:solidFill>
              </a:rPr>
              <a:t>Audio call recording transcription and video review unboxing OCR on AMD Instinct MI300X.</a:t>
            </a:r>
          </a:p>
          <a:p>
            <a:pPr>
              <a:spcBef>
                <a:spcPts val="1000"/>
              </a:spcBef>
              <a:defRPr sz="1200" b="1">
                <a:solidFill>
                  <a:srgbClr val="ED1C24"/>
                </a:solidFill>
              </a:defRPr>
            </a:pPr>
            <a:r>
              <a:t>✦ Phase 2: Fine-Tuned Domain LoRA: </a:t>
            </a:r>
            <a:r>
              <a:rPr b="0">
                <a:solidFill>
                  <a:srgbClr val="CBD5E1"/>
                </a:solidFill>
              </a:rPr>
              <a:t>Domain-specific review models trained with AMD ROCm PyTorch kernels for retail, SaaS, and gaming.</a:t>
            </a:r>
          </a:p>
          <a:p>
            <a:pPr>
              <a:spcBef>
                <a:spcPts val="1000"/>
              </a:spcBef>
              <a:defRPr sz="1200" b="1">
                <a:solidFill>
                  <a:srgbClr val="ED1C24"/>
                </a:solidFill>
              </a:defRPr>
            </a:pPr>
            <a:r>
              <a:t>✦ Phase 3: Automated Ticket Resolution: </a:t>
            </a:r>
            <a:r>
              <a:rPr b="0">
                <a:solidFill>
                  <a:srgbClr val="CBD5E1"/>
                </a:solidFill>
              </a:rPr>
              <a:t>Bi-directional integration with Zendesk, Jira, and Slack to auto-create bug tickets from recurring complaints.</a:t>
            </a:r>
          </a:p>
          <a:p>
            <a:pPr>
              <a:spcBef>
                <a:spcPts val="1000"/>
              </a:spcBef>
              <a:defRPr sz="1200" b="1">
                <a:solidFill>
                  <a:srgbClr val="ED1C24"/>
                </a:solidFill>
              </a:defRPr>
            </a:pPr>
            <a:r>
              <a:t>✦ Phase 4: Predictive Churn Index: </a:t>
            </a:r>
            <a:r>
              <a:rPr b="0">
                <a:solidFill>
                  <a:srgbClr val="CBD5E1"/>
                </a:solidFill>
              </a:rPr>
              <a:t>Predictive churn scoring model alerting leadership when review sentiment velocity turns negative.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731520"/>
            <a:ext cx="10728655" cy="5394960"/>
          </a:xfrm>
          <a:prstGeom prst="roundRect">
            <a:avLst/>
          </a:prstGeom>
          <a:solidFill>
            <a:srgbClr val="182135"/>
          </a:solidFill>
          <a:ln w="15240">
            <a:solidFill>
              <a:srgbClr val="263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97280" y="1097280"/>
            <a:ext cx="3840480" cy="320040"/>
          </a:xfrm>
          <a:prstGeom prst="round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8FAFC"/>
                </a:solidFill>
              </a:defRPr>
            </a:pPr>
            <a:r>
              <a:t>AMD DEVELOPER HACKATHON: ACT III SUBMISSION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645920"/>
            <a:ext cx="9966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8FAFC"/>
                </a:solidFill>
              </a:defRPr>
            </a:pPr>
            <a:r>
              <a:t>NeuroForge: Ready for Evaluation</a:t>
            </a:r>
          </a:p>
          <a:p>
            <a:pPr>
              <a:spcBef>
                <a:spcPts val="800"/>
              </a:spcBef>
              <a:defRPr sz="1400">
                <a:solidFill>
                  <a:srgbClr val="94A3B8"/>
                </a:solidFill>
              </a:defRPr>
            </a:pPr>
            <a:r>
              <a:t>A complete, production-ready AI Review Intelligence platform marrying high-performance AMD hardware inference with autonomous Evolus agent orchestration.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3383280"/>
            <a:ext cx="3154680" cy="1645920"/>
          </a:xfrm>
          <a:prstGeom prst="roundRect">
            <a:avLst/>
          </a:prstGeom>
          <a:solidFill>
            <a:srgbClr val="121929"/>
          </a:solidFill>
          <a:ln w="1524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3566160"/>
            <a:ext cx="27889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F0FF"/>
                </a:solidFill>
              </a:defRPr>
            </a:pPr>
            <a:r>
              <a:t>Live Web Application</a:t>
            </a:r>
          </a:p>
          <a:p>
            <a:pPr>
              <a:spcBef>
                <a:spcPts val="400"/>
              </a:spcBef>
              <a:defRPr sz="1100" b="1">
                <a:solidFill>
                  <a:srgbClr val="F8FAFC"/>
                </a:solidFill>
              </a:defRPr>
            </a:pPr>
            <a:r>
              <a:t>https://neuroforge-review-analyzer.vercel.app/</a:t>
            </a:r>
          </a:p>
          <a:p>
            <a:pPr>
              <a:spcBef>
                <a:spcPts val="400"/>
              </a:spcBef>
              <a:defRPr sz="1000">
                <a:solidFill>
                  <a:srgbClr val="94A3B8"/>
                </a:solidFill>
              </a:defRPr>
            </a:pPr>
            <a:r>
              <a:t>Try instant demo or upload custom CSV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3383280"/>
            <a:ext cx="3154680" cy="1645920"/>
          </a:xfrm>
          <a:prstGeom prst="roundRect">
            <a:avLst/>
          </a:prstGeom>
          <a:solidFill>
            <a:srgbClr val="121929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3566160"/>
            <a:ext cx="27889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Public GitHub Repository</a:t>
            </a:r>
          </a:p>
          <a:p>
            <a:pPr>
              <a:spcBef>
                <a:spcPts val="400"/>
              </a:spcBef>
              <a:defRPr sz="1100" b="1">
                <a:solidFill>
                  <a:srgbClr val="F8FAFC"/>
                </a:solidFill>
              </a:defRPr>
            </a:pPr>
            <a:r>
              <a:t>github.com/jawad1155/neuroforge-review-analyzer</a:t>
            </a:r>
          </a:p>
          <a:p>
            <a:pPr>
              <a:spcBef>
                <a:spcPts val="400"/>
              </a:spcBef>
              <a:defRPr sz="1000">
                <a:solidFill>
                  <a:srgbClr val="94A3B8"/>
                </a:solidFill>
              </a:defRPr>
            </a:pPr>
            <a:r>
              <a:t>Full-stack code, Docker Compose, API docs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0" y="3383280"/>
            <a:ext cx="3154680" cy="1645920"/>
          </a:xfrm>
          <a:prstGeom prst="roundRect">
            <a:avLst/>
          </a:prstGeom>
          <a:solidFill>
            <a:srgbClr val="121929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79" y="3566160"/>
            <a:ext cx="27889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Evolus AI Workspace ID</a:t>
            </a:r>
          </a:p>
          <a:p>
            <a:pPr>
              <a:spcBef>
                <a:spcPts val="400"/>
              </a:spcBef>
              <a:defRPr sz="1100" b="1">
                <a:solidFill>
                  <a:srgbClr val="F8FAFC"/>
                </a:solidFill>
              </a:defRPr>
            </a:pPr>
            <a:r>
              <a:t>5f96b97d-e488-44dc-973d-09c30c5625aa</a:t>
            </a:r>
          </a:p>
          <a:p>
            <a:pPr>
              <a:spcBef>
                <a:spcPts val="400"/>
              </a:spcBef>
              <a:defRPr sz="1000">
                <a:solidFill>
                  <a:srgbClr val="94A3B8"/>
                </a:solidFill>
              </a:defRPr>
            </a:pPr>
            <a:r>
              <a:t>Agent ID: aa475004-2f3e-4b8c-93cd-0676450c5058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5303520"/>
            <a:ext cx="9966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94A3B8"/>
                </a:solidFill>
              </a:defRPr>
            </a:pPr>
            <a:r>
              <a:t>Team Contacts: jawad52852@gmail.com  •  arhamsohail2022@gmail.com  |  Thank you to AMD &amp; Evolus AI teams!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